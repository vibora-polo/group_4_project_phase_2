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6858000"/>
  <p:notesSz cx="6858000" cy="9144000"/>
  <p:embeddedFontLst>
    <p:embeddedFont>
      <p:font typeface="SimSun" panose="02010600030101010101" pitchFamily="2" charset="-122"/>
      <p:regular r:id="rId23"/>
    </p:embeddedFont>
    <p:embeddedFont>
      <p:font typeface="Calibri" panose="020F0502020204030204"/>
      <p:regular r:id="rId24"/>
    </p:embeddedFont>
    <p:embeddedFont>
      <p:font typeface="Roboto" panose="02000000000000000000"/>
      <p:regular r:id="rId25"/>
      <p:bold r:id="rId26"/>
      <p:italic r:id="rId27"/>
      <p:boldItalic r:id="rId28"/>
    </p:embeddedFont>
    <p:embeddedFont>
      <p:font typeface="Roboto Mono" panose="00000009000000000000"/>
      <p:regular r:id="rId29"/>
      <p: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8.fntdata"/><Relationship Id="rId3" Type="http://schemas.openxmlformats.org/officeDocument/2006/relationships/slide" Target="slides/slide1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8" name="Google Shape;88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11024b9a2_0_0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11024b9a2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0" name="Google Shape;100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11024b9a2_0_6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11024b9a2_0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11024b9a2_0_28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11024b9a2_0_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9" name="Google Shape;129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11024b9a2_0_35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11024b9a2_0_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11024b9a2_0_20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11024b9a2_0_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7" name="Google Shape;157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1196975"/>
            <a:ext cx="8207375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2422525"/>
            <a:ext cx="8212138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/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/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/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/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/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/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/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linkedin.com/in/john-o-b8b14b11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000" b="1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BOX OFFICE ANALYSIS FOR STRATEGIC MOVIE PRODUCTION</a:t>
            </a:r>
            <a:endParaRPr lang="en-US" sz="4000" b="1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85" name="Google Shape;85;p13"/>
          <p:cNvSpPr txBox="1"/>
          <p:nvPr>
            <p:ph type="body" idx="1"/>
          </p:nvPr>
        </p:nvSpPr>
        <p:spPr>
          <a:xfrm>
            <a:off x="457200" y="1791970"/>
            <a:ext cx="8229600" cy="4334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Using historical movie performance to guide profitable production decisions</a:t>
            </a:r>
            <a:endParaRPr lang="en-US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endParaRPr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Presented by:</a:t>
            </a:r>
            <a:endParaRPr lang="en-US" b="1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Monicah Wairimu</a:t>
            </a:r>
            <a:endParaRPr lang="en-US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Jeffrey Gathigi</a:t>
            </a:r>
            <a:endParaRPr lang="en-US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Jared Mongeri</a:t>
            </a:r>
            <a:endParaRPr lang="en-US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John Awallah</a:t>
            </a:r>
            <a:endParaRPr lang="en-US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 b="1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OVERVIEW</a:t>
            </a:r>
            <a:endParaRPr lang="en-US" sz="4400" b="1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91" name="Google Shape;91;p1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1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Purpose of This Analysis:</a:t>
            </a:r>
            <a:endParaRPr lang="en-US" sz="3200" b="1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 Support data-driven production decisions</a:t>
            </a:r>
            <a:endParaRPr lang="en-US" sz="320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 Identify drivers of box office success</a:t>
            </a:r>
            <a:endParaRPr lang="en-US" sz="320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 Reduce financial risk</a:t>
            </a:r>
            <a:endParaRPr lang="en-US" sz="320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1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What We Delivered:</a:t>
            </a:r>
            <a:endParaRPr lang="en-US" sz="3200" b="1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 Analysis of historical movie data</a:t>
            </a:r>
            <a:endParaRPr lang="en-US" sz="320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 Actionable business recommendations</a:t>
            </a:r>
            <a:endParaRPr lang="en-US" sz="320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PROJECT OBJECTIVES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7" name="Google Shape;97;p15"/>
          <p:cNvSpPr txBox="1"/>
          <p:nvPr>
            <p:ph type="body" idx="1"/>
          </p:nvPr>
        </p:nvSpPr>
        <p:spPr>
          <a:xfrm>
            <a:off x="457200" y="1418590"/>
            <a:ext cx="8229600" cy="512254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950" b="1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Goal 1:</a:t>
            </a:r>
            <a:endParaRPr sz="2950" b="1">
              <a:highlight>
                <a:schemeClr val="lt1"/>
              </a:highlight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95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Identify movie genres that generate the highest </a:t>
            </a:r>
            <a:endParaRPr lang="en-US" sz="2950">
              <a:highlight>
                <a:schemeClr val="lt1"/>
              </a:highlight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95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worldwide revenue to guide prioritization.</a:t>
            </a:r>
            <a:endParaRPr lang="en-US" sz="2950">
              <a:highlight>
                <a:schemeClr val="lt1"/>
              </a:highlight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sz="2950">
              <a:highlight>
                <a:schemeClr val="lt1"/>
              </a:highlight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950" b="1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Goal 2:</a:t>
            </a:r>
            <a:endParaRPr sz="2950">
              <a:highlight>
                <a:schemeClr val="lt1"/>
              </a:highlight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95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Analyze the correlation between IMDb ratings and </a:t>
            </a:r>
            <a:endParaRPr lang="en-US" sz="2950">
              <a:highlight>
                <a:schemeClr val="lt1"/>
              </a:highlight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95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box office revenue to understand how audience </a:t>
            </a:r>
            <a:endParaRPr lang="en-US" sz="2950">
              <a:highlight>
                <a:schemeClr val="lt1"/>
              </a:highlight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95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approval impacts financial success.</a:t>
            </a:r>
            <a:endParaRPr lang="en-US" sz="2950">
              <a:highlight>
                <a:schemeClr val="lt1"/>
              </a:highlight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sz="2950">
              <a:highlight>
                <a:schemeClr val="lt1"/>
              </a:highlight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950" b="1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Goal 3:</a:t>
            </a:r>
            <a:endParaRPr sz="2950" b="1">
              <a:highlight>
                <a:schemeClr val="lt1"/>
              </a:highlight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95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Determine the optimal movie runtime range for </a:t>
            </a:r>
            <a:endParaRPr lang="en-US" sz="2950">
              <a:highlight>
                <a:schemeClr val="lt1"/>
              </a:highlight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95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commercial performance.</a:t>
            </a:r>
            <a:endParaRPr sz="3050">
              <a:highlight>
                <a:schemeClr val="lt1"/>
              </a:highligh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BUSINESS PROBLEM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3" name="Google Shape;103;p16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1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The Challenge:</a:t>
            </a:r>
            <a:endParaRPr lang="en-US" sz="3200" b="1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Movie production is capital-intensive and high-risk</a:t>
            </a:r>
            <a:endParaRPr lang="en-US" sz="320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Poor genre, quality, or runtime choices lead to losses</a:t>
            </a:r>
            <a:endParaRPr lang="en-US" sz="320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1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Key Questions:</a:t>
            </a:r>
            <a:endParaRPr lang="en-US" sz="3200" b="1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Which genres generate the highest revenue?</a:t>
            </a:r>
            <a:endParaRPr lang="en-US" sz="320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Do ratings influence revenue?</a:t>
            </a:r>
            <a:endParaRPr lang="en-US" sz="320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What runtime performs best?</a:t>
            </a:r>
            <a:endParaRPr lang="en-US" sz="320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BUSINESS UNDERSTANDING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9" name="Google Shape;109;p17"/>
          <p:cNvSpPr txBox="1"/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60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A new movie studio wants to make data-driven decisions to maximize box office success.</a:t>
            </a:r>
            <a:br>
              <a:rPr lang="en-US" sz="260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</a:br>
            <a:r>
              <a:rPr lang="en-US" sz="260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We analyzed historical movie data to uncover patterns in:</a:t>
            </a:r>
            <a:endParaRPr sz="2600">
              <a:highlight>
                <a:schemeClr val="lt1"/>
              </a:highlight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" panose="02000000000000000000"/>
              <a:buAutoNum type="arabicPeriod"/>
            </a:pPr>
            <a:r>
              <a:rPr lang="en-US" sz="260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Genre popularity and revenue potential</a:t>
            </a:r>
            <a:endParaRPr sz="2600">
              <a:highlight>
                <a:schemeClr val="lt1"/>
              </a:highlight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" panose="02000000000000000000"/>
              <a:buAutoNum type="arabicPeriod"/>
            </a:pPr>
            <a:r>
              <a:rPr lang="en-US" sz="260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The impact of audience ratings on financial performance</a:t>
            </a:r>
            <a:endParaRPr sz="2600">
              <a:highlight>
                <a:schemeClr val="lt1"/>
              </a:highlight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" panose="02000000000000000000"/>
              <a:buAutoNum type="arabicPeriod"/>
            </a:pPr>
            <a:r>
              <a:rPr lang="en-US" sz="260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Ideal movie runtimes for commercial appeal</a:t>
            </a:r>
            <a:endParaRPr sz="2600">
              <a:highlight>
                <a:schemeClr val="lt1"/>
              </a:highlight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4600">
              <a:highlight>
                <a:schemeClr val="lt1"/>
              </a:highligh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 b="1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D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ATA</a:t>
            </a:r>
            <a:r>
              <a:rPr lang="en-US" sz="4400" b="1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 U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NDERSTANDING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5" name="Google Shape;115;p18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1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Data Sources</a:t>
            </a:r>
            <a:r>
              <a:rPr lang="en-US" sz="240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:</a:t>
            </a:r>
            <a:endParaRPr sz="2400">
              <a:highlight>
                <a:schemeClr val="lt1"/>
              </a:highlight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●"/>
            </a:pPr>
            <a:r>
              <a:rPr lang="en-US" sz="240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IMDB SQLite database (</a:t>
            </a:r>
            <a:r>
              <a:rPr lang="en-US" sz="2250">
                <a:highlight>
                  <a:schemeClr val="lt1"/>
                </a:highlight>
                <a:latin typeface="Times New Roman" panose="02020603050405020304" charset="0"/>
                <a:ea typeface="Roboto Mono" panose="00000009000000000000"/>
                <a:cs typeface="Times New Roman" panose="02020603050405020304" charset="0"/>
                <a:sym typeface="Roboto Mono" panose="00000009000000000000"/>
              </a:rPr>
              <a:t>im.db</a:t>
            </a:r>
            <a:r>
              <a:rPr lang="en-US" sz="240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)</a:t>
            </a:r>
            <a:endParaRPr sz="2400">
              <a:highlight>
                <a:schemeClr val="lt1"/>
              </a:highlight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●"/>
            </a:pPr>
            <a:r>
              <a:rPr lang="en-US" sz="240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Box Office Mojo dataset (</a:t>
            </a:r>
            <a:r>
              <a:rPr lang="en-US" sz="2250">
                <a:highlight>
                  <a:schemeClr val="lt1"/>
                </a:highlight>
                <a:latin typeface="Times New Roman" panose="02020603050405020304" charset="0"/>
                <a:ea typeface="Roboto Mono" panose="00000009000000000000"/>
                <a:cs typeface="Times New Roman" panose="02020603050405020304" charset="0"/>
                <a:sym typeface="Roboto Mono" panose="00000009000000000000"/>
              </a:rPr>
              <a:t>bom.movie_gross.csv.gz</a:t>
            </a:r>
            <a:r>
              <a:rPr lang="en-US" sz="240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)</a:t>
            </a:r>
            <a:endParaRPr sz="2400">
              <a:highlight>
                <a:schemeClr val="lt1"/>
              </a:highlight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1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Cleaning &amp; Merging</a:t>
            </a:r>
            <a:r>
              <a:rPr lang="en-US" sz="240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:</a:t>
            </a:r>
            <a:endParaRPr sz="2400">
              <a:highlight>
                <a:schemeClr val="lt1"/>
              </a:highlight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 panose="02000000000000000000"/>
              <a:buAutoNum type="arabicPeriod"/>
            </a:pPr>
            <a:r>
              <a:rPr lang="en-US" sz="240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Filtered IMDB data to include only movie-like entries</a:t>
            </a:r>
            <a:endParaRPr sz="2400">
              <a:highlight>
                <a:schemeClr val="lt1"/>
              </a:highlight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 panose="02000000000000000000"/>
              <a:buAutoNum type="arabicPeriod"/>
            </a:pPr>
            <a:r>
              <a:rPr lang="en-US" sz="240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Cleaned and standardized titles for merging</a:t>
            </a:r>
            <a:endParaRPr sz="2400">
              <a:highlight>
                <a:schemeClr val="lt1"/>
              </a:highlight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 panose="02000000000000000000"/>
              <a:buAutoNum type="arabicPeriod"/>
            </a:pPr>
            <a:r>
              <a:rPr lang="en-US" sz="240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Combined datasets with a 29.41% match rate</a:t>
            </a:r>
            <a:endParaRPr sz="2400">
              <a:highlight>
                <a:schemeClr val="lt1"/>
              </a:highlight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 panose="02000000000000000000"/>
              <a:buAutoNum type="arabicPeriod"/>
            </a:pPr>
            <a:r>
              <a:rPr lang="en-US" sz="240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Created </a:t>
            </a:r>
            <a:r>
              <a:rPr lang="en-US" sz="2250">
                <a:highlight>
                  <a:schemeClr val="lt1"/>
                </a:highlight>
                <a:latin typeface="Times New Roman" panose="02020603050405020304" charset="0"/>
                <a:ea typeface="Roboto Mono" panose="00000009000000000000"/>
                <a:cs typeface="Times New Roman" panose="02020603050405020304" charset="0"/>
                <a:sym typeface="Roboto Mono" panose="00000009000000000000"/>
              </a:rPr>
              <a:t>worldwide_gross</a:t>
            </a:r>
            <a:r>
              <a:rPr lang="en-US" sz="240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 from domestic and foreign revenue</a:t>
            </a:r>
            <a:endParaRPr sz="4400">
              <a:highlight>
                <a:schemeClr val="lt1"/>
              </a:highligh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DATA ANALYSIS I: GENRE PERFORMANCE 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1" name="Google Shape;121;p19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178000"/>
              <a:buFont typeface="Calibri" panose="020F0502020204030204"/>
              <a:buNone/>
            </a:pPr>
            <a:r>
              <a:rPr lang="en-US" sz="2750" b="1">
                <a:highlight>
                  <a:schemeClr val="lt1"/>
                </a:highlight>
                <a:latin typeface="Times New Roman" panose="02020603050405020304" charset="0"/>
                <a:cs typeface="Times New Roman" panose="02020603050405020304" charset="0"/>
              </a:rPr>
              <a:t>Findings:</a:t>
            </a:r>
            <a:endParaRPr lang="en-US" sz="2750" b="1">
              <a:highlight>
                <a:schemeClr val="lt1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algn="l" rtl="0">
              <a:spcBef>
                <a:spcPts val="0"/>
              </a:spcBef>
              <a:spcAft>
                <a:spcPts val="0"/>
              </a:spcAft>
              <a:buSzPct val="178000"/>
              <a:buFont typeface="Arial" panose="020B0604020202020204" pitchFamily="34" charset="0"/>
              <a:buChar char="•"/>
            </a:pPr>
            <a:endParaRPr sz="2750">
              <a:highlight>
                <a:schemeClr val="lt1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algn="l" rtl="0">
              <a:spcBef>
                <a:spcPts val="0"/>
              </a:spcBef>
              <a:spcAft>
                <a:spcPts val="0"/>
              </a:spcAft>
              <a:buSzPct val="178000"/>
            </a:pPr>
            <a:r>
              <a:rPr lang="en-US" sz="2750">
                <a:highlight>
                  <a:schemeClr val="lt1"/>
                </a:highlight>
                <a:latin typeface="Times New Roman" panose="02020603050405020304" charset="0"/>
                <a:cs typeface="Times New Roman" panose="02020603050405020304" charset="0"/>
              </a:rPr>
              <a:t>Specific genres dominate the top-performing films globally and </a:t>
            </a:r>
            <a:endParaRPr lang="en-US" sz="2750">
              <a:highlight>
                <a:schemeClr val="lt1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178000"/>
              <a:buNone/>
            </a:pPr>
            <a:r>
              <a:rPr lang="en-US" sz="2750">
                <a:highlight>
                  <a:schemeClr val="lt1"/>
                </a:highlight>
                <a:latin typeface="Times New Roman" panose="02020603050405020304" charset="0"/>
                <a:cs typeface="Times New Roman" panose="02020603050405020304" charset="0"/>
              </a:rPr>
              <a:t>       deliver significantly higher financial returns than others.</a:t>
            </a:r>
            <a:endParaRPr lang="en-US" sz="2750">
              <a:highlight>
                <a:schemeClr val="lt1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marL="37338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sz="275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Adventure, Animation, and Sci-Fi earn the highest revenue</a:t>
            </a:r>
            <a:endParaRPr lang="en-US" sz="2750">
              <a:solidFill>
                <a:schemeClr val="dk1"/>
              </a:solidFill>
              <a:highlight>
                <a:schemeClr val="lt1"/>
              </a:highlight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7338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sz="275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These genres dominate global box office results</a:t>
            </a:r>
            <a:endParaRPr lang="en-US" sz="2750">
              <a:solidFill>
                <a:schemeClr val="dk1"/>
              </a:solidFill>
              <a:highlight>
                <a:schemeClr val="lt1"/>
              </a:highlight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20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048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Recommendation: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12420" algn="l" rtl="0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-US" sz="3200">
                <a:highlight>
                  <a:schemeClr val="lt1"/>
                </a:highlight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 </a:t>
            </a:r>
            <a:r>
              <a:rPr lang="en-US" sz="267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The studio should focus on these high-earning genres to increase the likelihood of competing effectively with major established studios.</a:t>
            </a:r>
            <a:endParaRPr sz="4820">
              <a:highlight>
                <a:schemeClr val="lt1"/>
              </a:highligh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0" descr="output3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409822"/>
            <a:ext cx="9144000" cy="5783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 b="1"/>
              <a:t>DATA ANALYSIS II</a:t>
            </a:r>
            <a:r>
              <a:rPr lang="en-US" sz="4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R</a:t>
            </a:r>
            <a:r>
              <a:rPr lang="en-US" b="1"/>
              <a:t>ATINGS VS REVENUE</a:t>
            </a:r>
            <a:endParaRPr lang="en-US" b="1"/>
          </a:p>
        </p:txBody>
      </p:sp>
      <p:sp>
        <p:nvSpPr>
          <p:cNvPr id="132" name="Google Shape;132;p2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/>
          </a:bodyPr>
          <a:lstStyle/>
          <a:p>
            <a:pPr marL="1524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310" b="1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Findings:</a:t>
            </a:r>
            <a:endParaRPr lang="en-US" sz="3310" b="1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32766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sz="331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32766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31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Movies with IMDb ratings in the 6.5–8.0 range produce the strongest and most consistent box-office returns.</a:t>
            </a:r>
            <a:endParaRPr sz="331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2766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31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Very low ratings underperform</a:t>
            </a:r>
            <a:endParaRPr lang="en-US" sz="331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32766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31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High ratings alone do not guarantee success</a:t>
            </a:r>
            <a:endParaRPr lang="en-US" sz="331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31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1524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310" b="1">
                <a:latin typeface="Times New Roman" panose="02020603050405020304" charset="0"/>
                <a:cs typeface="Times New Roman" panose="02020603050405020304" charset="0"/>
              </a:rPr>
              <a:t>Recommendation</a:t>
            </a:r>
            <a:r>
              <a:rPr lang="en-US" sz="3310" b="1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:</a:t>
            </a:r>
            <a:endParaRPr lang="en-US" sz="3310" b="1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32766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39000"/>
              <a:buChar char="•"/>
            </a:pPr>
            <a:r>
              <a:rPr lang="en-US" sz="3310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Focus on quality storytelling and strong direction to achieve ratings above 7.5, which drive higher box office returns.</a:t>
            </a:r>
            <a:endParaRPr sz="3310">
              <a:highlight>
                <a:schemeClr val="lt1"/>
              </a:highligh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2" descr="output2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6156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DATA ANALYSIS III</a:t>
            </a:r>
            <a:r>
              <a:rPr lang="en-US" sz="4400" b="1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: Runtime vs Revenue</a:t>
            </a:r>
            <a:endParaRPr lang="en-US" sz="4400" b="1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43" name="Google Shape;143;p23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1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Findings:</a:t>
            </a:r>
            <a:endParaRPr sz="3200" b="1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 Films between 120–140 minutes earn higher revenue</a:t>
            </a:r>
            <a:endParaRPr lang="en-US" sz="320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 Very short films underperform</a:t>
            </a:r>
            <a:endParaRPr lang="en-US" sz="320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 Longer films can succeed if well executed</a:t>
            </a:r>
            <a:endParaRPr lang="en-US" sz="320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Recommendation</a:t>
            </a:r>
            <a:r>
              <a:rPr lang="en-US" sz="3200" b="1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:</a:t>
            </a:r>
            <a:endParaRPr lang="en-US" sz="3200" b="1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 Audiences prefer feature-length films</a:t>
            </a:r>
            <a:endParaRPr lang="en-US" sz="320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 descr="output1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88078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 b="1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BUSINESS RECOMMENDATIONS</a:t>
            </a:r>
            <a:endParaRPr lang="en-US" sz="4400" b="1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54" name="Google Shape;154;p25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800">
                <a:solidFill>
                  <a:schemeClr val="tx1"/>
                </a:solidFill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1. Prioritize Genre: </a:t>
            </a:r>
            <a:endParaRPr lang="en-US" sz="2800">
              <a:solidFill>
                <a:schemeClr val="tx1"/>
              </a:solidFill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800">
                <a:solidFill>
                  <a:schemeClr val="tx1"/>
                </a:solidFill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Focus development on top-tier global genres identified in the analysis.</a:t>
            </a:r>
            <a:endParaRPr sz="2800">
              <a:solidFill>
                <a:schemeClr val="tx1"/>
              </a:solidFill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800">
                <a:solidFill>
                  <a:schemeClr val="tx1"/>
                </a:solidFill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2. Target Quality: </a:t>
            </a:r>
            <a:endParaRPr lang="en-US" sz="2800">
              <a:solidFill>
                <a:schemeClr val="tx1"/>
              </a:solidFill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800">
                <a:solidFill>
                  <a:schemeClr val="tx1"/>
                </a:solidFill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Aim for a "sweet spot" of audience approval (IMDb 6.5–8.0) through excellence in casting and production.</a:t>
            </a:r>
            <a:endParaRPr sz="2800">
              <a:solidFill>
                <a:schemeClr val="tx1"/>
              </a:solidFill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800">
                <a:solidFill>
                  <a:schemeClr val="tx1"/>
                </a:solidFill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3. Optimize Length:</a:t>
            </a:r>
            <a:endParaRPr lang="en-US" sz="2800">
              <a:solidFill>
                <a:schemeClr val="tx1"/>
              </a:solidFill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800">
                <a:solidFill>
                  <a:schemeClr val="tx1"/>
                </a:solidFill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 Target a runtime between 2 and 2.3 hours to align with the highest-earning historical data.</a:t>
            </a:r>
            <a:endParaRPr lang="en-US" sz="2800">
              <a:solidFill>
                <a:schemeClr val="tx1"/>
              </a:solidFill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 b="1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NEXT STEPS</a:t>
            </a:r>
            <a:endParaRPr lang="en-US" sz="4400" b="1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60" name="Google Shape;160;p26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1242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 Analyze production budgets vs returns </a:t>
            </a:r>
            <a:r>
              <a:rPr lang="en-US">
                <a:highlight>
                  <a:schemeClr val="lt1"/>
                </a:highlight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and release timing analysis</a:t>
            </a:r>
            <a:endParaRPr lang="en-US">
              <a:highlight>
                <a:schemeClr val="lt1"/>
              </a:highlight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pPr marL="342900" lvl="0" indent="-3124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 Assess marketing spend impact</a:t>
            </a:r>
            <a:endParaRPr lang="en-US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3124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 Explore regional revenue trends 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to determine the most profitable.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124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 Test combined genre, budget, and runtime strategies</a:t>
            </a:r>
            <a:endParaRPr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615">
              <a:highlight>
                <a:schemeClr val="lt1"/>
              </a:highlight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endParaRPr sz="2615">
              <a:highlight>
                <a:schemeClr val="lt1"/>
              </a:highlight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34290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endParaRPr sz="2615">
              <a:highlight>
                <a:schemeClr val="lt1"/>
              </a:highlight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34290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 b="1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THANK YOU</a:t>
            </a:r>
            <a:endParaRPr lang="en-US" sz="4400" b="1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66" name="Google Shape;166;p27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66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Thank you for your time.</a:t>
            </a:r>
            <a:endParaRPr lang="en-US" sz="320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266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US">
              <a:solidFill>
                <a:schemeClr val="tx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Q&amp;A 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>
            <a:normAutofit fontScale="70000"/>
          </a:bodyPr>
          <a:p>
            <a:pPr marL="342900" lvl="0" indent="-266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  <a:sym typeface="Calibri" panose="020F0502020204030204"/>
              </a:rPr>
              <a:t>We welcome your questions.</a:t>
            </a:r>
            <a:endParaRPr lang="en-US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266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  <a:sym typeface="Calibri" panose="020F0502020204030204"/>
              </a:rPr>
              <a:t>Contacts:</a:t>
            </a:r>
            <a:endParaRPr lang="en-US" b="1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266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  <a:sym typeface="Calibri" panose="020F0502020204030204"/>
              </a:rPr>
              <a:t>Monicah Wairimu : https://www.linkedin.com/in/monicah-wairimu-44667837a?utm_source=share&amp;utm_campaign=share_via&amp;utm_content=profile&amp;utm_medium=android_app </a:t>
            </a:r>
            <a:endParaRPr lang="en-US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266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  <a:sym typeface="Calibri" panose="020F0502020204030204"/>
              </a:rPr>
              <a:t>Jeffrey Gathigi : https://www.linkedin.com/in/jeffrey-gathigi-38a373363?utm_source=share&amp;utm_campaign=share_via&amp;utm_content=profile&amp;utm_medium=android_app </a:t>
            </a:r>
            <a:endParaRPr lang="en-US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266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  <a:sym typeface="Calibri" panose="020F0502020204030204"/>
              </a:rPr>
              <a:t>Jared Mongeri : </a:t>
            </a: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www.linkedin.com/in/jared-ateka-a9064426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342900" lvl="0" indent="-266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  <a:sym typeface="Calibri" panose="020F0502020204030204"/>
              </a:rPr>
              <a:t>John Awallah :</a:t>
            </a:r>
            <a:r>
              <a: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Calibri" panose="020F0502020204030204"/>
              </a:rPr>
              <a:t> </a:t>
            </a:r>
            <a:r>
              <a:rPr lang="en-US" u="sng">
                <a:solidFill>
                  <a:schemeClr val="tx1"/>
                </a:solidFill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  <a:hlinkClick r:id="rId1"/>
              </a:rPr>
              <a:t>https://www.linkedin.com/in/john-o-b8b14b119</a:t>
            </a:r>
            <a:r>
              <a:rPr lang="en-US">
                <a:solidFill>
                  <a:schemeClr val="tx1"/>
                </a:solidFill>
                <a:latin typeface="Times New Roman" panose="02020603050405020304" charset="0"/>
                <a:ea typeface="Roboto" panose="02000000000000000000"/>
                <a:cs typeface="Times New Roman" panose="02020603050405020304" charset="0"/>
                <a:sym typeface="Roboto" panose="02000000000000000000"/>
              </a:rPr>
              <a:t>?</a:t>
            </a:r>
            <a:endParaRPr lang="en-US">
              <a:solidFill>
                <a:schemeClr val="tx1"/>
              </a:solidFill>
              <a:latin typeface="Times New Roman" panose="02020603050405020304" charset="0"/>
              <a:ea typeface="Roboto" panose="02000000000000000000"/>
              <a:cs typeface="Times New Roman" panose="02020603050405020304" charset="0"/>
              <a:sym typeface="Roboto" panose="02000000000000000000"/>
            </a:endParaRPr>
          </a:p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3693</Words>
  <Application>WPS Presentation</Application>
  <PresentationFormat/>
  <Paragraphs>136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6" baseType="lpstr">
      <vt:lpstr>Arial</vt:lpstr>
      <vt:lpstr>SimSun</vt:lpstr>
      <vt:lpstr>Wingdings</vt:lpstr>
      <vt:lpstr>Arial</vt:lpstr>
      <vt:lpstr>Calibri</vt:lpstr>
      <vt:lpstr>Roboto</vt:lpstr>
      <vt:lpstr>Roboto Mono</vt:lpstr>
      <vt:lpstr>Microsoft YaHei</vt:lpstr>
      <vt:lpstr>Arial Unicode MS</vt:lpstr>
      <vt:lpstr>Bodoni MT</vt:lpstr>
      <vt:lpstr>Blackadder ITC</vt:lpstr>
      <vt:lpstr>Broadway</vt:lpstr>
      <vt:lpstr>Trebuchet MS</vt:lpstr>
      <vt:lpstr>Times New Roman</vt:lpstr>
      <vt:lpstr>Bodoni MT Condensed</vt:lpstr>
      <vt:lpstr>Bodoni MT Poster Compressed</vt:lpstr>
      <vt:lpstr>Bodoni MT Black</vt:lpstr>
      <vt:lpstr>Wingdings</vt:lpstr>
      <vt:lpstr>Bookman Old Style</vt:lpstr>
      <vt:lpstr>Blue Waves</vt:lpstr>
      <vt:lpstr>Box Office Analysis for Strategic Movie Production</vt:lpstr>
      <vt:lpstr>Overview</vt:lpstr>
      <vt:lpstr>PROJECT OBJECTIVES</vt:lpstr>
      <vt:lpstr>BUSINESS PROBLEM</vt:lpstr>
      <vt:lpstr>BUSINESS UNDERSTANDING</vt:lpstr>
      <vt:lpstr>DATA UNDERSTANDING</vt:lpstr>
      <vt:lpstr>DATA ANALYSIS I: GENRE PERFORMANCE </vt:lpstr>
      <vt:lpstr>PowerPoint 演示文稿</vt:lpstr>
      <vt:lpstr>DATA ANALYSIS II: RATINGS VS REVENUE</vt:lpstr>
      <vt:lpstr>PowerPoint 演示文稿</vt:lpstr>
      <vt:lpstr>DATA ANALYSIS III: Runtime vs Revenue</vt:lpstr>
      <vt:lpstr>PowerPoint 演示文稿</vt:lpstr>
      <vt:lpstr>Business Recommendations</vt:lpstr>
      <vt:lpstr>Next Steps</vt:lpstr>
      <vt:lpstr>Thank You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Box Office Analysis for Strategic Movie Production</dc:title>
  <dc:creator/>
  <cp:lastModifiedBy>Jeffrey Gathigi</cp:lastModifiedBy>
  <cp:revision>3</cp:revision>
  <dcterms:created xsi:type="dcterms:W3CDTF">2025-12-16T18:33:37Z</dcterms:created>
  <dcterms:modified xsi:type="dcterms:W3CDTF">2025-12-16T18:40:05Z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ED44DD22B78D478B937529DB7715DD39_13</vt:lpwstr>
  </property>
  <property fmtid="{D5CDD505-2E9C-101B-9397-08002B2CF9AE}" pid="3" name="KSOProductBuildVer">
    <vt:lpwstr>1033-12.2.0.23155</vt:lpwstr>
  </property>
</Properties>
</file>